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docMetadata/LabelInfo.xml" ContentType="application/vnd.ms-office.classificationlabel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2" r:id="rId24"/>
  </p:sldIdLst>
  <p:sldSz cx="9144000" cy="5143500" type="screen16x9"/>
  <p:notesSz cx="6858000" cy="9144000"/>
  <p:embeddedFontLst>
    <p:embeddedFont>
      <p:font typeface="Roboto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944" y="-8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d39a204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8d39a204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8d39a204b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8d39a204b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08493cd0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08493cd0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08493cd07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08493cd07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08493cd07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08493cd07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08493cd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08493cd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08493cd0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08493cd0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088367377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088367377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088367377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088367377_2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08836737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088367377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09a1518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09a1518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13b6c01e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13b6c01e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09a15181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09a15181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088367377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088367377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9a15181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9a15181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xmlns="" id="{D981A6DC-679A-A7E2-2F29-D76D8BDC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9a151812_0_12:notes">
            <a:extLst>
              <a:ext uri="{FF2B5EF4-FFF2-40B4-BE49-F238E27FC236}">
                <a16:creationId xmlns:a16="http://schemas.microsoft.com/office/drawing/2014/main" xmlns="" id="{805E1FDD-8F0E-3EB6-039F-85FCDB59E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9a151812_0_12:notes">
            <a:extLst>
              <a:ext uri="{FF2B5EF4-FFF2-40B4-BE49-F238E27FC236}">
                <a16:creationId xmlns:a16="http://schemas.microsoft.com/office/drawing/2014/main" xmlns="" id="{9F98F233-2914-773F-49F7-FCC5186A9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46375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xmlns="" id="{2FE5E4EE-FAE8-9D8A-C153-883D56A0F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9a151812_0_12:notes">
            <a:extLst>
              <a:ext uri="{FF2B5EF4-FFF2-40B4-BE49-F238E27FC236}">
                <a16:creationId xmlns:a16="http://schemas.microsoft.com/office/drawing/2014/main" xmlns="" id="{1768BDB8-9B47-22D8-D393-68E4A9C2E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9a151812_0_12:notes">
            <a:extLst>
              <a:ext uri="{FF2B5EF4-FFF2-40B4-BE49-F238E27FC236}">
                <a16:creationId xmlns:a16="http://schemas.microsoft.com/office/drawing/2014/main" xmlns="" id="{5E250B83-D543-8154-1A5C-720012ECF9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955636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xmlns="" id="{EB74EFAF-02F2-CBD0-ECB0-5D811814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9a151812_0_12:notes">
            <a:extLst>
              <a:ext uri="{FF2B5EF4-FFF2-40B4-BE49-F238E27FC236}">
                <a16:creationId xmlns:a16="http://schemas.microsoft.com/office/drawing/2014/main" xmlns="" id="{75E0C51E-EFC8-9C1D-9E6F-344F96727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9a151812_0_12:notes">
            <a:extLst>
              <a:ext uri="{FF2B5EF4-FFF2-40B4-BE49-F238E27FC236}">
                <a16:creationId xmlns:a16="http://schemas.microsoft.com/office/drawing/2014/main" xmlns="" id="{FE0540D6-09DB-DC63-3F20-DCB6A91F0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8897374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xmlns="" id="{2065D08B-7022-EBF3-D9C6-2D5D2C00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9a151812_0_12:notes">
            <a:extLst>
              <a:ext uri="{FF2B5EF4-FFF2-40B4-BE49-F238E27FC236}">
                <a16:creationId xmlns:a16="http://schemas.microsoft.com/office/drawing/2014/main" xmlns="" id="{E50FC743-20DF-5B04-B3C2-0F0E903DB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9a151812_0_12:notes">
            <a:extLst>
              <a:ext uri="{FF2B5EF4-FFF2-40B4-BE49-F238E27FC236}">
                <a16:creationId xmlns:a16="http://schemas.microsoft.com/office/drawing/2014/main" xmlns="" id="{AFC1B0B7-453E-60A4-71D2-35C25D4D8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2527048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xmlns="" id="{ED33C3D4-D188-8C4C-6AD5-02753D12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9a151812_0_12:notes">
            <a:extLst>
              <a:ext uri="{FF2B5EF4-FFF2-40B4-BE49-F238E27FC236}">
                <a16:creationId xmlns:a16="http://schemas.microsoft.com/office/drawing/2014/main" xmlns="" id="{C1E30CA3-56C9-3D6A-9025-ADB0FF502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9a151812_0_12:notes">
            <a:extLst>
              <a:ext uri="{FF2B5EF4-FFF2-40B4-BE49-F238E27FC236}">
                <a16:creationId xmlns:a16="http://schemas.microsoft.com/office/drawing/2014/main" xmlns="" id="{DBDCE213-925C-2B10-E668-3AE4C5CAC1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143117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xmlns="" id="{A14CAAF6-40D7-255D-B309-80FA9C73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9a151812_0_12:notes">
            <a:extLst>
              <a:ext uri="{FF2B5EF4-FFF2-40B4-BE49-F238E27FC236}">
                <a16:creationId xmlns:a16="http://schemas.microsoft.com/office/drawing/2014/main" xmlns="" id="{949EFACB-0CA5-EC5D-7116-C4ABC01CA4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09a151812_0_12:notes">
            <a:extLst>
              <a:ext uri="{FF2B5EF4-FFF2-40B4-BE49-F238E27FC236}">
                <a16:creationId xmlns:a16="http://schemas.microsoft.com/office/drawing/2014/main" xmlns="" id="{736BC28A-985D-19DA-D9D6-F551F4A80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5373831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09a15181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09a15181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2A412038-0E64-4034-4D6A-3E54A0F081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3505962" y="4927600"/>
            <a:ext cx="2157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Classificação da Informação: PÚBLICA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Ateliê de Modelagem</a:t>
            </a:r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Banco de Dados - Prof. Cristiano de Macêdo Neto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598100" y="3216362"/>
            <a:ext cx="8222100" cy="18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Bruna Pedrosa Nunes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Cesar Lacerda Lima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Lucas Gonçalves Sivolella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Plínio Ângelo Ferreira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Vinicius Ramos Sales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Conceitual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t="719" b="719"/>
          <a:stretch/>
        </p:blipFill>
        <p:spPr>
          <a:xfrm>
            <a:off x="1037600" y="1017800"/>
            <a:ext cx="7068777" cy="375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Lógico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618" y="1023306"/>
            <a:ext cx="6509776" cy="38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Etapas do processo - Visão geral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438" y="1017800"/>
            <a:ext cx="2649125" cy="33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Etapas do processo - Visão geral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017800"/>
            <a:ext cx="2649125" cy="331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3563475" y="1017800"/>
            <a:ext cx="5157900" cy="3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 FN: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Atributos atômicos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atributos multivalorados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Chave primária bem definida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repetição de chave primária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 FN: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Chave primária simples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Atributos sem dependência parcial de PK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Etapas do processo - 3FN</a:t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800"/>
            <a:ext cx="4572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5058775" y="1017800"/>
            <a:ext cx="3773400" cy="3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Problema: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Dependência transitiva de FuncResponsavel e Tipo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Solução: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Funcionario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TipoEtapa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Vaga - 1FN e 2FN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970" y="1017800"/>
            <a:ext cx="496975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2685050" y="2401650"/>
            <a:ext cx="792000" cy="34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25" y="1003513"/>
            <a:ext cx="19050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>
            <a:off x="624650" y="1538250"/>
            <a:ext cx="639300" cy="259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Vaga - 3FN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450" y="1017800"/>
            <a:ext cx="4589088" cy="38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3995150" y="2454150"/>
            <a:ext cx="544200" cy="18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163825" y="3905400"/>
            <a:ext cx="375600" cy="18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3995150" y="2895025"/>
            <a:ext cx="375600" cy="18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2353875" y="1934100"/>
            <a:ext cx="375600" cy="18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Candidato - Visão geral</a:t>
            </a:r>
            <a:endParaRPr/>
          </a:p>
        </p:txBody>
      </p:sp>
      <p:sp>
        <p:nvSpPr>
          <p:cNvPr id="144" name="Google Shape;144;p21"/>
          <p:cNvSpPr txBox="1"/>
          <p:nvPr/>
        </p:nvSpPr>
        <p:spPr>
          <a:xfrm>
            <a:off x="3563475" y="1017800"/>
            <a:ext cx="5157900" cy="3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 FN: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Atributos atômicos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atributos multivalorados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Chave primária bem definida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repetição de chave primária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 FN: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Chave primária simples (CPF)	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Atributos sem dependência parcial de PK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675" y="1017800"/>
            <a:ext cx="2210600" cy="37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311700" y="306200"/>
            <a:ext cx="42603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Candidato - 3FN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5128150" y="595075"/>
            <a:ext cx="3347100" cy="3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Problemas: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Dependência transitiva: Rua, Número e CEP dependem do CEP, não do candidato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Contato multivalorado: um candidato pode ter vários contatos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Solução: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Endereco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Contato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650" y="796800"/>
            <a:ext cx="3571400" cy="40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Empresa Contratante - Visão geral</a:t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4297800" y="948675"/>
            <a:ext cx="4846200" cy="3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1FN: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Atributos atômicos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atributos multivalorados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Chave primária bem definida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repetição de chave primária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2FN: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Chave primária simples (CNPJ)	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Atributos com dependência funcional total da PK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00" y="1129175"/>
            <a:ext cx="4155600" cy="31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311700" y="306200"/>
            <a:ext cx="59109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Empresa Contratante - 3FN</a:t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4789625" y="595075"/>
            <a:ext cx="4263900" cy="3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Problemas: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 composto de endereço da empresa.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Contatos acumulados: Dificuldade em cadastrar mais de um telefone ou e-mail na mesma tabela.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Solução: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Endereco_Empresa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650" y="914000"/>
            <a:ext cx="3986751" cy="39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311700" y="306200"/>
            <a:ext cx="59109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Empresa Contratante - 3FN</a:t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5128150" y="595075"/>
            <a:ext cx="3761700" cy="3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Problemas: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Repetição de informações: Dados de Bairro e Cidade aparecem várias vezes para o mesmo CEP.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Contatos acumulados: Dificuldade em cadastrar mais de um telefone ou e-mail na mesma tabela.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Solução: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CEP_Empresa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400"/>
            <a:ext cx="4823351" cy="2941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Entrevista - Visão geral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4297800" y="948675"/>
            <a:ext cx="4846200" cy="3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1FN: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Atributos atômicos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atributos compostos ou multivalorados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Chave primária bem definida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repetição de chave primária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2FN: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Chave primária simples (IdEntrevista)	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Atributos com dependência funcional total da PK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-"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Nenhum atributo depende parcialmente de chaves compostas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18" y="923926"/>
            <a:ext cx="2905964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xfrm>
            <a:off x="311700" y="306200"/>
            <a:ext cx="59109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Entrevista - 3FN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4288775" y="595075"/>
            <a:ext cx="4601100" cy="3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Problemas: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Necessidade de padronizar tipo de modalidade, status e resultado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Local Entrevista como atributo composto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 informação do entrevistador/funcionário da etapa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Solução: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ModalidadeEntrevista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LocalEntrevista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StatusEntrevista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ResultadoEntrevista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-"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Criação da entidade Funcionario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3FN: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Cada atributo depende apenas da chave primária da tabela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18" y="923926"/>
            <a:ext cx="2905964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>
            <a:spLocks noGrp="1"/>
          </p:cNvSpPr>
          <p:nvPr>
            <p:ph type="title"/>
          </p:nvPr>
        </p:nvSpPr>
        <p:spPr>
          <a:xfrm>
            <a:off x="67675" y="2301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Lógico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Normalizado</a:t>
            </a:r>
            <a:endParaRPr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93366" y="0"/>
            <a:ext cx="5664859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1">
          <a:extLst>
            <a:ext uri="{FF2B5EF4-FFF2-40B4-BE49-F238E27FC236}">
              <a16:creationId xmlns:a16="http://schemas.microsoft.com/office/drawing/2014/main" xmlns="" id="{74533CBB-B36C-DB72-6382-5B2BB7BB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>
            <a:extLst>
              <a:ext uri="{FF2B5EF4-FFF2-40B4-BE49-F238E27FC236}">
                <a16:creationId xmlns:a16="http://schemas.microsoft.com/office/drawing/2014/main" xmlns="" id="{9FFC3655-397D-4DE4-5CC8-53D5D91AE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675" y="2301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Código SQL  - Etapas do Processo</a:t>
            </a:r>
            <a:endParaRPr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81A8D00C-5525-AF43-9192-937471725549}"/>
              </a:ext>
            </a:extLst>
          </p:cNvPr>
          <p:cNvSpPr txBox="1"/>
          <p:nvPr/>
        </p:nvSpPr>
        <p:spPr>
          <a:xfrm>
            <a:off x="608239" y="1234508"/>
            <a:ext cx="459649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EtapasDoProcesso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IdEtapa</a:t>
            </a:r>
            <a:r>
              <a:rPr lang="pt-BR" dirty="0"/>
              <a:t> INT PRIMARY KEY,  </a:t>
            </a:r>
          </a:p>
          <a:p>
            <a:r>
              <a:rPr lang="pt-BR" dirty="0"/>
              <a:t> Nome VARCHAR,  </a:t>
            </a:r>
          </a:p>
          <a:p>
            <a:r>
              <a:rPr lang="pt-BR" dirty="0"/>
              <a:t> </a:t>
            </a:r>
            <a:r>
              <a:rPr lang="pt-BR" dirty="0" err="1"/>
              <a:t>Descricao</a:t>
            </a:r>
            <a:r>
              <a:rPr lang="pt-BR" dirty="0"/>
              <a:t> VARCHAR,  </a:t>
            </a:r>
          </a:p>
          <a:p>
            <a:r>
              <a:rPr lang="pt-BR" dirty="0"/>
              <a:t> Ordem INT,  </a:t>
            </a:r>
          </a:p>
          <a:p>
            <a:r>
              <a:rPr lang="pt-BR" dirty="0"/>
              <a:t> </a:t>
            </a:r>
            <a:r>
              <a:rPr lang="pt-BR" dirty="0" err="1"/>
              <a:t>Data_Etapa</a:t>
            </a:r>
            <a:r>
              <a:rPr lang="pt-BR" dirty="0"/>
              <a:t> DATE,  </a:t>
            </a:r>
          </a:p>
          <a:p>
            <a:r>
              <a:rPr lang="pt-BR" dirty="0"/>
              <a:t> </a:t>
            </a:r>
            <a:r>
              <a:rPr lang="pt-BR" dirty="0" err="1"/>
              <a:t>IdFuncResponsavel</a:t>
            </a:r>
            <a:r>
              <a:rPr lang="pt-BR" dirty="0"/>
              <a:t> INT,  </a:t>
            </a:r>
          </a:p>
          <a:p>
            <a:r>
              <a:rPr lang="pt-BR" dirty="0"/>
              <a:t> </a:t>
            </a:r>
            <a:r>
              <a:rPr lang="pt-BR" dirty="0" err="1"/>
              <a:t>IdTipoEtapa</a:t>
            </a:r>
            <a:r>
              <a:rPr lang="pt-BR" dirty="0"/>
              <a:t> INT,  </a:t>
            </a:r>
          </a:p>
          <a:p>
            <a:r>
              <a:rPr lang="pt-BR" dirty="0"/>
              <a:t> </a:t>
            </a:r>
            <a:r>
              <a:rPr lang="pt-BR" dirty="0" err="1"/>
              <a:t>IdVaga</a:t>
            </a:r>
            <a:r>
              <a:rPr lang="pt-BR" dirty="0"/>
              <a:t> INT,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259BA3D4-0399-D5C1-4A61-FC98FCB54F67}"/>
              </a:ext>
            </a:extLst>
          </p:cNvPr>
          <p:cNvSpPr txBox="1"/>
          <p:nvPr/>
        </p:nvSpPr>
        <p:spPr>
          <a:xfrm>
            <a:off x="4572000" y="1234508"/>
            <a:ext cx="45964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Funcionario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IdFuncionario</a:t>
            </a:r>
            <a:r>
              <a:rPr lang="pt-BR" dirty="0"/>
              <a:t> INT PRIMARY KEY,  </a:t>
            </a:r>
          </a:p>
          <a:p>
            <a:r>
              <a:rPr lang="pt-BR" dirty="0"/>
              <a:t> Nome VARCHAR,  </a:t>
            </a:r>
          </a:p>
          <a:p>
            <a:r>
              <a:rPr lang="pt-BR" dirty="0"/>
              <a:t> Cargo VARCHAR,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8D7F7359-5DF3-6974-6DDE-B741E0C66EE4}"/>
              </a:ext>
            </a:extLst>
          </p:cNvPr>
          <p:cNvSpPr txBox="1"/>
          <p:nvPr/>
        </p:nvSpPr>
        <p:spPr>
          <a:xfrm>
            <a:off x="4572000" y="2852389"/>
            <a:ext cx="46087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TipoEtapa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IdTipoEtapa</a:t>
            </a:r>
            <a:r>
              <a:rPr lang="pt-BR" dirty="0"/>
              <a:t> INT PRIMARY KEY,  </a:t>
            </a:r>
          </a:p>
          <a:p>
            <a:r>
              <a:rPr lang="pt-BR" dirty="0"/>
              <a:t> Nome VARCHAR,  </a:t>
            </a:r>
          </a:p>
          <a:p>
            <a:r>
              <a:rPr lang="pt-BR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xmlns="" val="6354963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1">
          <a:extLst>
            <a:ext uri="{FF2B5EF4-FFF2-40B4-BE49-F238E27FC236}">
              <a16:creationId xmlns:a16="http://schemas.microsoft.com/office/drawing/2014/main" xmlns="" id="{4A8E5297-39CD-22EB-BDFF-2CAD4C0F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>
            <a:extLst>
              <a:ext uri="{FF2B5EF4-FFF2-40B4-BE49-F238E27FC236}">
                <a16:creationId xmlns:a16="http://schemas.microsoft.com/office/drawing/2014/main" xmlns="" id="{5286139D-4DE6-CEA2-161D-938308C721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675" y="2301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Código SQL  - Vaga</a:t>
            </a:r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FA828EF3-1DFD-3E50-7E1F-5E17B39BB2A0}"/>
              </a:ext>
            </a:extLst>
          </p:cNvPr>
          <p:cNvSpPr txBox="1"/>
          <p:nvPr/>
        </p:nvSpPr>
        <p:spPr>
          <a:xfrm>
            <a:off x="273504" y="1005908"/>
            <a:ext cx="459649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Vaga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IdVaga</a:t>
            </a:r>
            <a:r>
              <a:rPr lang="pt-BR" dirty="0"/>
              <a:t> INT PRIMARY KEY,  </a:t>
            </a:r>
          </a:p>
          <a:p>
            <a:r>
              <a:rPr lang="pt-BR" dirty="0"/>
              <a:t> </a:t>
            </a:r>
            <a:r>
              <a:rPr lang="pt-BR" dirty="0" err="1"/>
              <a:t>Descricao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DataPublicacao</a:t>
            </a:r>
            <a:r>
              <a:rPr lang="pt-BR" dirty="0"/>
              <a:t> DATE,  </a:t>
            </a:r>
          </a:p>
          <a:p>
            <a:r>
              <a:rPr lang="pt-BR" dirty="0"/>
              <a:t> Quantidade INT,  </a:t>
            </a:r>
          </a:p>
          <a:p>
            <a:r>
              <a:rPr lang="pt-BR" dirty="0"/>
              <a:t> Salario FLOAT,  </a:t>
            </a:r>
          </a:p>
          <a:p>
            <a:r>
              <a:rPr lang="pt-BR" dirty="0"/>
              <a:t> Status BOOLEAN,  </a:t>
            </a:r>
          </a:p>
          <a:p>
            <a:r>
              <a:rPr lang="pt-BR" dirty="0"/>
              <a:t> </a:t>
            </a:r>
            <a:r>
              <a:rPr lang="pt-BR" dirty="0" err="1"/>
              <a:t>IdEmpresa</a:t>
            </a:r>
            <a:r>
              <a:rPr lang="pt-BR" dirty="0"/>
              <a:t> INT,  </a:t>
            </a:r>
          </a:p>
          <a:p>
            <a:r>
              <a:rPr lang="pt-BR" dirty="0"/>
              <a:t> </a:t>
            </a:r>
            <a:r>
              <a:rPr lang="pt-BR" dirty="0" err="1"/>
              <a:t>IdCargo</a:t>
            </a:r>
            <a:r>
              <a:rPr lang="pt-BR" dirty="0"/>
              <a:t> INT,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6D0AC37-4CA8-6A8F-31D4-C74ABB6DD7B8}"/>
              </a:ext>
            </a:extLst>
          </p:cNvPr>
          <p:cNvSpPr txBox="1"/>
          <p:nvPr/>
        </p:nvSpPr>
        <p:spPr>
          <a:xfrm>
            <a:off x="4184197" y="2775623"/>
            <a:ext cx="45964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Requisito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IdRequisito</a:t>
            </a:r>
            <a:r>
              <a:rPr lang="pt-BR" dirty="0"/>
              <a:t> INT PRIMARY KEY,  </a:t>
            </a:r>
          </a:p>
          <a:p>
            <a:r>
              <a:rPr lang="pt-BR" dirty="0"/>
              <a:t> </a:t>
            </a:r>
            <a:r>
              <a:rPr lang="pt-BR" dirty="0" err="1"/>
              <a:t>IdVaga</a:t>
            </a:r>
            <a:r>
              <a:rPr lang="pt-BR" dirty="0"/>
              <a:t> INT,  </a:t>
            </a:r>
          </a:p>
          <a:p>
            <a:r>
              <a:rPr lang="pt-BR" dirty="0"/>
              <a:t> </a:t>
            </a:r>
            <a:r>
              <a:rPr lang="pt-BR" dirty="0" err="1"/>
              <a:t>Descricao</a:t>
            </a:r>
            <a:r>
              <a:rPr lang="pt-BR" dirty="0"/>
              <a:t> VARCHAR,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713F1DDC-DE03-2F1D-28DF-5BFC4D7BE734}"/>
              </a:ext>
            </a:extLst>
          </p:cNvPr>
          <p:cNvSpPr txBox="1"/>
          <p:nvPr/>
        </p:nvSpPr>
        <p:spPr>
          <a:xfrm>
            <a:off x="4274004" y="1005908"/>
            <a:ext cx="459649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Cargo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IdCargo</a:t>
            </a:r>
            <a:r>
              <a:rPr lang="pt-BR" dirty="0"/>
              <a:t> INT PRIMARY KEY,  </a:t>
            </a:r>
          </a:p>
          <a:p>
            <a:r>
              <a:rPr lang="pt-BR" dirty="0"/>
              <a:t> Nome VARCHAR,  </a:t>
            </a:r>
          </a:p>
          <a:p>
            <a:r>
              <a:rPr lang="pt-BR" dirty="0"/>
              <a:t> </a:t>
            </a:r>
            <a:r>
              <a:rPr lang="pt-BR" dirty="0" err="1"/>
              <a:t>Nivel</a:t>
            </a:r>
            <a:r>
              <a:rPr lang="pt-BR" dirty="0"/>
              <a:t> VARCHAR,  </a:t>
            </a:r>
          </a:p>
          <a:p>
            <a:r>
              <a:rPr lang="pt-BR" dirty="0"/>
              <a:t> Area VARCHAR,  </a:t>
            </a:r>
          </a:p>
          <a:p>
            <a:r>
              <a:rPr lang="pt-BR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xmlns="" val="172411535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1">
          <a:extLst>
            <a:ext uri="{FF2B5EF4-FFF2-40B4-BE49-F238E27FC236}">
              <a16:creationId xmlns:a16="http://schemas.microsoft.com/office/drawing/2014/main" xmlns="" id="{3C1844CF-E21B-D97C-7654-6CE5433B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>
            <a:extLst>
              <a:ext uri="{FF2B5EF4-FFF2-40B4-BE49-F238E27FC236}">
                <a16:creationId xmlns:a16="http://schemas.microsoft.com/office/drawing/2014/main" xmlns="" id="{18CBF70B-AA45-4D76-25D6-7CE0DFD8AF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675" y="2301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Código SQL  - Empresa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A21FEBE2-2B6D-8DB2-83FE-AA6D12BC0CFD}"/>
              </a:ext>
            </a:extLst>
          </p:cNvPr>
          <p:cNvSpPr txBox="1"/>
          <p:nvPr/>
        </p:nvSpPr>
        <p:spPr>
          <a:xfrm>
            <a:off x="159204" y="927438"/>
            <a:ext cx="45964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Empresa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CNPJ VARCHAR PRIMARY KEY,  </a:t>
            </a:r>
          </a:p>
          <a:p>
            <a:r>
              <a:rPr lang="pt-BR" dirty="0"/>
              <a:t> </a:t>
            </a:r>
            <a:r>
              <a:rPr lang="pt-BR" dirty="0" err="1"/>
              <a:t>RazaoSocial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Nome_Fantasia</a:t>
            </a:r>
            <a:r>
              <a:rPr lang="pt-BR" dirty="0"/>
              <a:t> VARCHAR,  </a:t>
            </a:r>
          </a:p>
          <a:p>
            <a:r>
              <a:rPr lang="pt-BR" dirty="0"/>
              <a:t> Porte VARCHAR,  </a:t>
            </a:r>
          </a:p>
          <a:p>
            <a:r>
              <a:rPr lang="pt-BR" dirty="0"/>
              <a:t> Setor VARCHAR,  </a:t>
            </a:r>
          </a:p>
          <a:p>
            <a:r>
              <a:rPr lang="pt-BR" dirty="0"/>
              <a:t> </a:t>
            </a:r>
            <a:r>
              <a:rPr lang="pt-BR" dirty="0" err="1"/>
              <a:t>IdEnderecoEmpresa</a:t>
            </a:r>
            <a:r>
              <a:rPr lang="pt-BR" dirty="0"/>
              <a:t> INT,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C4A51A08-6721-D101-EE4F-92F3A1A1F849}"/>
              </a:ext>
            </a:extLst>
          </p:cNvPr>
          <p:cNvSpPr txBox="1"/>
          <p:nvPr/>
        </p:nvSpPr>
        <p:spPr>
          <a:xfrm>
            <a:off x="159204" y="3121811"/>
            <a:ext cx="45964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Telefone_Empresa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CNPJ_Empresa</a:t>
            </a:r>
            <a:r>
              <a:rPr lang="pt-BR" dirty="0"/>
              <a:t> VARCHAR PRIMARY KEY,  </a:t>
            </a:r>
          </a:p>
          <a:p>
            <a:r>
              <a:rPr lang="pt-BR" dirty="0"/>
              <a:t> Telefone VARCHAR PRIMARY KEY,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DE4A7D3E-75D3-723F-03EB-C75D4E9D035A}"/>
              </a:ext>
            </a:extLst>
          </p:cNvPr>
          <p:cNvSpPr txBox="1"/>
          <p:nvPr/>
        </p:nvSpPr>
        <p:spPr>
          <a:xfrm>
            <a:off x="4069897" y="927438"/>
            <a:ext cx="45964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Email_Empresa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CNPJ_Empresa</a:t>
            </a:r>
            <a:r>
              <a:rPr lang="pt-BR" dirty="0"/>
              <a:t> VARCHAR PRIMARY KEY,  </a:t>
            </a:r>
          </a:p>
          <a:p>
            <a:r>
              <a:rPr lang="pt-BR" dirty="0"/>
              <a:t> Email VARCHAR PRIMARY KEY,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533A9E1A-C7B8-892E-6EC4-EC8A01F8AD58}"/>
              </a:ext>
            </a:extLst>
          </p:cNvPr>
          <p:cNvSpPr txBox="1"/>
          <p:nvPr/>
        </p:nvSpPr>
        <p:spPr>
          <a:xfrm>
            <a:off x="4069897" y="2328522"/>
            <a:ext cx="459649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Endereco_Empresa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IdEndereco</a:t>
            </a:r>
            <a:r>
              <a:rPr lang="pt-BR" dirty="0"/>
              <a:t> INT PRIMARY KEY,  </a:t>
            </a:r>
          </a:p>
          <a:p>
            <a:r>
              <a:rPr lang="pt-BR" dirty="0"/>
              <a:t> </a:t>
            </a:r>
            <a:r>
              <a:rPr lang="pt-BR" dirty="0" err="1"/>
              <a:t>CNPJ_Empresa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End_Logradouro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End_Numero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End_Bairro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End_Cidade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End_Estado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End_CEP</a:t>
            </a:r>
            <a:r>
              <a:rPr lang="pt-BR" dirty="0"/>
              <a:t> VARCHAR,  </a:t>
            </a:r>
          </a:p>
          <a:p>
            <a:r>
              <a:rPr lang="pt-BR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xmlns="" val="170392125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1">
          <a:extLst>
            <a:ext uri="{FF2B5EF4-FFF2-40B4-BE49-F238E27FC236}">
              <a16:creationId xmlns:a16="http://schemas.microsoft.com/office/drawing/2014/main" xmlns="" id="{1A3151B4-A415-B734-C775-623E13F5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>
            <a:extLst>
              <a:ext uri="{FF2B5EF4-FFF2-40B4-BE49-F238E27FC236}">
                <a16:creationId xmlns:a16="http://schemas.microsoft.com/office/drawing/2014/main" xmlns="" id="{490BD549-ED2C-D14B-452E-1E193084A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675" y="2301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Código SQL  - Candidato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2306AD4E-61D9-3A73-6C34-D2560421C50F}"/>
              </a:ext>
            </a:extLst>
          </p:cNvPr>
          <p:cNvSpPr txBox="1"/>
          <p:nvPr/>
        </p:nvSpPr>
        <p:spPr>
          <a:xfrm>
            <a:off x="224518" y="929023"/>
            <a:ext cx="45964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Candidato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CPF VARCHAR PRIMARY KEY,  </a:t>
            </a:r>
          </a:p>
          <a:p>
            <a:r>
              <a:rPr lang="pt-BR" dirty="0"/>
              <a:t> </a:t>
            </a:r>
            <a:r>
              <a:rPr lang="pt-BR" dirty="0" err="1"/>
              <a:t>DataNascimento</a:t>
            </a:r>
            <a:r>
              <a:rPr lang="pt-BR" dirty="0"/>
              <a:t> DATE,  </a:t>
            </a:r>
          </a:p>
          <a:p>
            <a:r>
              <a:rPr lang="pt-BR" dirty="0"/>
              <a:t> Nome VARCHAR,  </a:t>
            </a:r>
          </a:p>
          <a:p>
            <a:r>
              <a:rPr lang="pt-BR" dirty="0"/>
              <a:t> </a:t>
            </a:r>
            <a:r>
              <a:rPr lang="pt-BR" dirty="0" err="1"/>
              <a:t>Curriculo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IdEndereco</a:t>
            </a:r>
            <a:r>
              <a:rPr lang="pt-BR" dirty="0"/>
              <a:t> INT,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E9AF0DFC-C15F-2E38-7A75-E33A0BC8C6D5}"/>
              </a:ext>
            </a:extLst>
          </p:cNvPr>
          <p:cNvSpPr txBox="1"/>
          <p:nvPr/>
        </p:nvSpPr>
        <p:spPr>
          <a:xfrm>
            <a:off x="224518" y="2835953"/>
            <a:ext cx="45964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Endereco_Candidato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IdEnderecoCandidato</a:t>
            </a:r>
            <a:r>
              <a:rPr lang="pt-BR" dirty="0"/>
              <a:t> INT PRIMARY KEY,  </a:t>
            </a:r>
          </a:p>
          <a:p>
            <a:r>
              <a:rPr lang="pt-BR" dirty="0"/>
              <a:t> Logradouro VARCHAR,  </a:t>
            </a:r>
          </a:p>
          <a:p>
            <a:r>
              <a:rPr lang="pt-BR" dirty="0"/>
              <a:t> Numero VARCHAR,  </a:t>
            </a:r>
          </a:p>
          <a:p>
            <a:r>
              <a:rPr lang="pt-BR" dirty="0"/>
              <a:t> Bairro VARCHAR,  </a:t>
            </a:r>
          </a:p>
          <a:p>
            <a:r>
              <a:rPr lang="pt-BR" dirty="0"/>
              <a:t> Cidade VARCHAR,  </a:t>
            </a:r>
          </a:p>
          <a:p>
            <a:r>
              <a:rPr lang="pt-BR" dirty="0"/>
              <a:t> Estado VARCHAR,  </a:t>
            </a:r>
          </a:p>
          <a:p>
            <a:r>
              <a:rPr lang="pt-BR" dirty="0"/>
              <a:t> CEP VARCHAR,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63EF9938-EAE1-D937-61D4-9A2BC7615B97}"/>
              </a:ext>
            </a:extLst>
          </p:cNvPr>
          <p:cNvSpPr txBox="1"/>
          <p:nvPr/>
        </p:nvSpPr>
        <p:spPr>
          <a:xfrm>
            <a:off x="4404633" y="929023"/>
            <a:ext cx="459649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Contato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IdContato</a:t>
            </a:r>
            <a:r>
              <a:rPr lang="pt-BR" dirty="0"/>
              <a:t> INT PRIMARY KEY,  </a:t>
            </a:r>
          </a:p>
          <a:p>
            <a:r>
              <a:rPr lang="pt-BR" dirty="0"/>
              <a:t> CPF VARCHAR,  </a:t>
            </a:r>
          </a:p>
          <a:p>
            <a:r>
              <a:rPr lang="pt-BR" dirty="0"/>
              <a:t> </a:t>
            </a:r>
            <a:r>
              <a:rPr lang="pt-BR" dirty="0" err="1"/>
              <a:t>TipoContato</a:t>
            </a:r>
            <a:r>
              <a:rPr lang="pt-BR" dirty="0"/>
              <a:t> VARCHAR,  </a:t>
            </a:r>
          </a:p>
          <a:p>
            <a:r>
              <a:rPr lang="pt-BR" dirty="0"/>
              <a:t> Valor VARCHAR,  </a:t>
            </a:r>
          </a:p>
          <a:p>
            <a:r>
              <a:rPr lang="pt-BR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xmlns="" val="252266620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1">
          <a:extLst>
            <a:ext uri="{FF2B5EF4-FFF2-40B4-BE49-F238E27FC236}">
              <a16:creationId xmlns:a16="http://schemas.microsoft.com/office/drawing/2014/main" xmlns="" id="{DFB41B21-F7FA-27A8-7AA0-462060B50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>
            <a:extLst>
              <a:ext uri="{FF2B5EF4-FFF2-40B4-BE49-F238E27FC236}">
                <a16:creationId xmlns:a16="http://schemas.microsoft.com/office/drawing/2014/main" xmlns="" id="{75C65ADC-06BC-4EF3-F567-C0E846487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675" y="2301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Código SQL  - Entrevista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165F3292-6375-BFD9-AC8F-12C21EBA299B}"/>
              </a:ext>
            </a:extLst>
          </p:cNvPr>
          <p:cNvSpPr txBox="1"/>
          <p:nvPr/>
        </p:nvSpPr>
        <p:spPr>
          <a:xfrm>
            <a:off x="297997" y="1024056"/>
            <a:ext cx="459649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Entrevista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IdEntrevista</a:t>
            </a:r>
            <a:r>
              <a:rPr lang="pt-BR" dirty="0"/>
              <a:t> INT PRIMARY KEY,  </a:t>
            </a:r>
          </a:p>
          <a:p>
            <a:r>
              <a:rPr lang="pt-BR" dirty="0"/>
              <a:t> CPF VARCHAR,  </a:t>
            </a:r>
          </a:p>
          <a:p>
            <a:r>
              <a:rPr lang="pt-BR" dirty="0"/>
              <a:t> </a:t>
            </a:r>
            <a:r>
              <a:rPr lang="pt-BR" dirty="0" err="1"/>
              <a:t>Data_Entrevista</a:t>
            </a:r>
            <a:r>
              <a:rPr lang="pt-BR" dirty="0"/>
              <a:t> DATETIME,  </a:t>
            </a:r>
          </a:p>
          <a:p>
            <a:r>
              <a:rPr lang="pt-BR" dirty="0"/>
              <a:t> </a:t>
            </a:r>
            <a:r>
              <a:rPr lang="pt-BR" dirty="0" err="1"/>
              <a:t>IdModalidade</a:t>
            </a:r>
            <a:r>
              <a:rPr lang="pt-BR" dirty="0"/>
              <a:t> INT,  </a:t>
            </a:r>
          </a:p>
          <a:p>
            <a:r>
              <a:rPr lang="pt-BR" dirty="0"/>
              <a:t> </a:t>
            </a:r>
            <a:r>
              <a:rPr lang="pt-BR" dirty="0" err="1"/>
              <a:t>Duracao_Min</a:t>
            </a:r>
            <a:r>
              <a:rPr lang="pt-BR" dirty="0"/>
              <a:t> INT,  </a:t>
            </a:r>
          </a:p>
          <a:p>
            <a:r>
              <a:rPr lang="pt-BR" dirty="0"/>
              <a:t> </a:t>
            </a:r>
            <a:r>
              <a:rPr lang="pt-BR" dirty="0" err="1"/>
              <a:t>IdStatusEntrevista</a:t>
            </a:r>
            <a:r>
              <a:rPr lang="pt-BR" dirty="0"/>
              <a:t> INT,  </a:t>
            </a:r>
          </a:p>
          <a:p>
            <a:r>
              <a:rPr lang="pt-BR" dirty="0"/>
              <a:t> Resultado INT,  </a:t>
            </a:r>
          </a:p>
          <a:p>
            <a:r>
              <a:rPr lang="pt-BR" dirty="0"/>
              <a:t> </a:t>
            </a:r>
            <a:r>
              <a:rPr lang="pt-BR" dirty="0" err="1"/>
              <a:t>Nota_Candidato</a:t>
            </a:r>
            <a:r>
              <a:rPr lang="pt-BR" dirty="0"/>
              <a:t> FLOAT,  </a:t>
            </a:r>
          </a:p>
          <a:p>
            <a:r>
              <a:rPr lang="pt-BR" dirty="0"/>
              <a:t> Feedback VARCHAR,  </a:t>
            </a:r>
          </a:p>
          <a:p>
            <a:r>
              <a:rPr lang="pt-BR" dirty="0"/>
              <a:t> </a:t>
            </a:r>
            <a:r>
              <a:rPr lang="pt-BR" dirty="0" err="1"/>
              <a:t>IdEtapa</a:t>
            </a:r>
            <a:r>
              <a:rPr lang="pt-BR" dirty="0"/>
              <a:t> INT,  </a:t>
            </a:r>
          </a:p>
          <a:p>
            <a:r>
              <a:rPr lang="pt-BR" dirty="0"/>
              <a:t> </a:t>
            </a:r>
            <a:r>
              <a:rPr lang="pt-BR" dirty="0" err="1"/>
              <a:t>IdLocalEntrevista</a:t>
            </a:r>
            <a:r>
              <a:rPr lang="pt-BR" dirty="0"/>
              <a:t> INT,  </a:t>
            </a:r>
          </a:p>
          <a:p>
            <a:r>
              <a:rPr lang="pt-BR" dirty="0"/>
              <a:t> </a:t>
            </a:r>
            <a:r>
              <a:rPr lang="pt-BR" dirty="0" err="1"/>
              <a:t>IdEntrevistador</a:t>
            </a:r>
            <a:r>
              <a:rPr lang="pt-BR" dirty="0"/>
              <a:t> INT,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D21F287D-7D50-267F-4307-1C43596CEF87}"/>
              </a:ext>
            </a:extLst>
          </p:cNvPr>
          <p:cNvSpPr txBox="1"/>
          <p:nvPr/>
        </p:nvSpPr>
        <p:spPr>
          <a:xfrm>
            <a:off x="4478111" y="130797"/>
            <a:ext cx="459649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LocalEntrevista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IdLocal</a:t>
            </a:r>
            <a:r>
              <a:rPr lang="pt-BR" dirty="0"/>
              <a:t> INT PRIMARY KEY,  </a:t>
            </a:r>
          </a:p>
          <a:p>
            <a:r>
              <a:rPr lang="pt-BR" dirty="0"/>
              <a:t> </a:t>
            </a:r>
            <a:r>
              <a:rPr lang="pt-BR" dirty="0" err="1"/>
              <a:t>TipoLocal</a:t>
            </a:r>
            <a:r>
              <a:rPr lang="pt-BR" dirty="0"/>
              <a:t> VARCHAR,  </a:t>
            </a:r>
          </a:p>
          <a:p>
            <a:r>
              <a:rPr lang="pt-BR" dirty="0"/>
              <a:t> </a:t>
            </a:r>
            <a:r>
              <a:rPr lang="pt-BR" dirty="0" err="1"/>
              <a:t>EnderecoFisico</a:t>
            </a:r>
            <a:r>
              <a:rPr lang="pt-BR" dirty="0"/>
              <a:t> VARCHAR,  </a:t>
            </a:r>
          </a:p>
          <a:p>
            <a:r>
              <a:rPr lang="pt-BR" dirty="0"/>
              <a:t> Link VARCHAR,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53A1F8AC-5BDF-B2D5-8718-5645ADC24E22}"/>
              </a:ext>
            </a:extLst>
          </p:cNvPr>
          <p:cNvSpPr txBox="1"/>
          <p:nvPr/>
        </p:nvSpPr>
        <p:spPr>
          <a:xfrm>
            <a:off x="4478111" y="1731235"/>
            <a:ext cx="45964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ModalidadeEntrevista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IdModalidade</a:t>
            </a:r>
            <a:r>
              <a:rPr lang="pt-BR" dirty="0"/>
              <a:t> INT PRIMARY KEY,  </a:t>
            </a:r>
          </a:p>
          <a:p>
            <a:r>
              <a:rPr lang="pt-BR" dirty="0"/>
              <a:t> Tipo VARCHAR,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D338F249-F39A-D343-1F44-22ECC01B73DA}"/>
              </a:ext>
            </a:extLst>
          </p:cNvPr>
          <p:cNvSpPr txBox="1"/>
          <p:nvPr/>
        </p:nvSpPr>
        <p:spPr>
          <a:xfrm>
            <a:off x="4478111" y="3023189"/>
            <a:ext cx="45964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StatusEntrevista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IdStatus</a:t>
            </a:r>
            <a:r>
              <a:rPr lang="pt-BR" dirty="0"/>
              <a:t> INT PRIMARY KEY,  </a:t>
            </a:r>
          </a:p>
          <a:p>
            <a:r>
              <a:rPr lang="pt-BR" dirty="0"/>
              <a:t> Status VARCHAR,  </a:t>
            </a:r>
          </a:p>
          <a:p>
            <a:r>
              <a:rPr lang="pt-BR" dirty="0"/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xmlns="" val="384168425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1">
          <a:extLst>
            <a:ext uri="{FF2B5EF4-FFF2-40B4-BE49-F238E27FC236}">
              <a16:creationId xmlns:a16="http://schemas.microsoft.com/office/drawing/2014/main" xmlns="" id="{60FACB76-2A91-4871-814E-988E6C9D3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>
            <a:extLst>
              <a:ext uri="{FF2B5EF4-FFF2-40B4-BE49-F238E27FC236}">
                <a16:creationId xmlns:a16="http://schemas.microsoft.com/office/drawing/2014/main" xmlns="" id="{F20F2E6F-1971-F543-C12D-C3350A689E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675" y="2301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Código SQL  - Entrevista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5B67F29B-D7FF-7AC2-C10C-C1D62B04C555}"/>
              </a:ext>
            </a:extLst>
          </p:cNvPr>
          <p:cNvSpPr txBox="1"/>
          <p:nvPr/>
        </p:nvSpPr>
        <p:spPr>
          <a:xfrm>
            <a:off x="257175" y="1766539"/>
            <a:ext cx="45964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CREATE TABLE </a:t>
            </a:r>
            <a:r>
              <a:rPr lang="pt-BR" dirty="0" err="1"/>
              <a:t>ResultadoEntrevista</a:t>
            </a:r>
            <a:r>
              <a:rPr lang="pt-BR" dirty="0"/>
              <a:t> </a:t>
            </a:r>
          </a:p>
          <a:p>
            <a:r>
              <a:rPr lang="pt-BR" dirty="0"/>
              <a:t>( </a:t>
            </a:r>
          </a:p>
          <a:p>
            <a:r>
              <a:rPr lang="pt-BR" dirty="0"/>
              <a:t> </a:t>
            </a:r>
            <a:r>
              <a:rPr lang="pt-BR" dirty="0" err="1"/>
              <a:t>IdResultado</a:t>
            </a:r>
            <a:r>
              <a:rPr lang="pt-BR" dirty="0"/>
              <a:t> INT PRIMARY KEY,  </a:t>
            </a:r>
          </a:p>
          <a:p>
            <a:r>
              <a:rPr lang="pt-BR" dirty="0"/>
              <a:t> Resultado VARCHAR,  </a:t>
            </a:r>
          </a:p>
          <a:p>
            <a:r>
              <a:rPr lang="pt-BR" dirty="0"/>
              <a:t>);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DC2C5A8E-E538-E2CE-F29E-605F8110845E}"/>
              </a:ext>
            </a:extLst>
          </p:cNvPr>
          <p:cNvSpPr txBox="1"/>
          <p:nvPr/>
        </p:nvSpPr>
        <p:spPr>
          <a:xfrm>
            <a:off x="4116521" y="534075"/>
            <a:ext cx="495980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ALTER TABLE </a:t>
            </a:r>
            <a:r>
              <a:rPr lang="pt-BR" sz="800" dirty="0" err="1"/>
              <a:t>EtapasDoProcesso</a:t>
            </a:r>
            <a:r>
              <a:rPr lang="pt-BR" sz="800" dirty="0"/>
              <a:t> ADD FOREIGN KEY(</a:t>
            </a:r>
            <a:r>
              <a:rPr lang="pt-BR" sz="800" dirty="0" err="1"/>
              <a:t>IdFuncResponsavel</a:t>
            </a:r>
            <a:r>
              <a:rPr lang="pt-BR" sz="800" dirty="0"/>
              <a:t>) REFERENCES </a:t>
            </a:r>
            <a:r>
              <a:rPr lang="pt-BR" sz="800" dirty="0" err="1"/>
              <a:t>Funcionario</a:t>
            </a:r>
            <a:r>
              <a:rPr lang="pt-BR" sz="800" dirty="0"/>
              <a:t> (</a:t>
            </a:r>
            <a:r>
              <a:rPr lang="pt-BR" sz="800" dirty="0" err="1"/>
              <a:t>IdFuncResponsavel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</a:t>
            </a:r>
            <a:r>
              <a:rPr lang="pt-BR" sz="800" dirty="0" err="1"/>
              <a:t>EtapasDoProcesso</a:t>
            </a:r>
            <a:r>
              <a:rPr lang="pt-BR" sz="800" dirty="0"/>
              <a:t> ADD FOREIGN KEY(</a:t>
            </a:r>
            <a:r>
              <a:rPr lang="pt-BR" sz="800" dirty="0" err="1"/>
              <a:t>IdTipoEtapa</a:t>
            </a:r>
            <a:r>
              <a:rPr lang="pt-BR" sz="800" dirty="0"/>
              <a:t>) REFERENCES </a:t>
            </a:r>
            <a:r>
              <a:rPr lang="pt-BR" sz="800" dirty="0" err="1"/>
              <a:t>TipoEtapa</a:t>
            </a:r>
            <a:r>
              <a:rPr lang="pt-BR" sz="800" dirty="0"/>
              <a:t> (</a:t>
            </a:r>
            <a:r>
              <a:rPr lang="pt-BR" sz="800" dirty="0" err="1"/>
              <a:t>IdTipoEtapa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</a:t>
            </a:r>
            <a:r>
              <a:rPr lang="pt-BR" sz="800" dirty="0" err="1"/>
              <a:t>EtapasDoProcesso</a:t>
            </a:r>
            <a:r>
              <a:rPr lang="pt-BR" sz="800" dirty="0"/>
              <a:t> ADD FOREIGN KEY(</a:t>
            </a:r>
            <a:r>
              <a:rPr lang="pt-BR" sz="800" dirty="0" err="1"/>
              <a:t>IdVaga</a:t>
            </a:r>
            <a:r>
              <a:rPr lang="pt-BR" sz="800" dirty="0"/>
              <a:t>) REFERENCES Vaga (</a:t>
            </a:r>
            <a:r>
              <a:rPr lang="pt-BR" sz="800" dirty="0" err="1"/>
              <a:t>IdVaga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Vaga ADD FOREIGN KEY(</a:t>
            </a:r>
            <a:r>
              <a:rPr lang="pt-BR" sz="800" dirty="0" err="1"/>
              <a:t>IdEmpresa</a:t>
            </a:r>
            <a:r>
              <a:rPr lang="pt-BR" sz="800" dirty="0"/>
              <a:t>) REFERENCES Empresa (</a:t>
            </a:r>
            <a:r>
              <a:rPr lang="pt-BR" sz="800" dirty="0" err="1"/>
              <a:t>IdEmpresa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Vaga ADD FOREIGN KEY(</a:t>
            </a:r>
            <a:r>
              <a:rPr lang="pt-BR" sz="800" dirty="0" err="1"/>
              <a:t>IdCargo</a:t>
            </a:r>
            <a:r>
              <a:rPr lang="pt-BR" sz="800" dirty="0"/>
              <a:t>) REFERENCES Cargo (</a:t>
            </a:r>
            <a:r>
              <a:rPr lang="pt-BR" sz="800" dirty="0" err="1"/>
              <a:t>IdCargo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Requisito ADD FOREIGN KEY(</a:t>
            </a:r>
            <a:r>
              <a:rPr lang="pt-BR" sz="800" dirty="0" err="1"/>
              <a:t>IdVaga</a:t>
            </a:r>
            <a:r>
              <a:rPr lang="pt-BR" sz="800" dirty="0"/>
              <a:t>) REFERENCES Vaga (</a:t>
            </a:r>
            <a:r>
              <a:rPr lang="pt-BR" sz="800" dirty="0" err="1"/>
              <a:t>IdVaga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Empresa ADD FOREIGN KEY(</a:t>
            </a:r>
            <a:r>
              <a:rPr lang="pt-BR" sz="800" dirty="0" err="1"/>
              <a:t>IdEnderecoEmpresa</a:t>
            </a:r>
            <a:r>
              <a:rPr lang="pt-BR" sz="800" dirty="0"/>
              <a:t>) REFERENCES </a:t>
            </a:r>
            <a:r>
              <a:rPr lang="pt-BR" sz="800" dirty="0" err="1"/>
              <a:t>Endereco_Empresa</a:t>
            </a:r>
            <a:r>
              <a:rPr lang="pt-BR" sz="800" dirty="0"/>
              <a:t> (</a:t>
            </a:r>
            <a:r>
              <a:rPr lang="pt-BR" sz="800" dirty="0" err="1"/>
              <a:t>IdEnderecoEmpresa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</a:t>
            </a:r>
            <a:r>
              <a:rPr lang="pt-BR" sz="800" dirty="0" err="1"/>
              <a:t>Telefone_Empresa</a:t>
            </a:r>
            <a:r>
              <a:rPr lang="pt-BR" sz="800" dirty="0"/>
              <a:t> ADD FOREIGN KEY(</a:t>
            </a:r>
            <a:r>
              <a:rPr lang="pt-BR" sz="800" dirty="0" err="1"/>
              <a:t>CNPJ_Empresa</a:t>
            </a:r>
            <a:r>
              <a:rPr lang="pt-BR" sz="800" dirty="0"/>
              <a:t>) REFERENCES Empresa (</a:t>
            </a:r>
            <a:r>
              <a:rPr lang="pt-BR" sz="800" dirty="0" err="1"/>
              <a:t>CNPJ_Empresa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</a:t>
            </a:r>
            <a:r>
              <a:rPr lang="pt-BR" sz="800" dirty="0" err="1"/>
              <a:t>Email_Empresa</a:t>
            </a:r>
            <a:r>
              <a:rPr lang="pt-BR" sz="800" dirty="0"/>
              <a:t> ADD FOREIGN KEY(</a:t>
            </a:r>
            <a:r>
              <a:rPr lang="pt-BR" sz="800" dirty="0" err="1"/>
              <a:t>CNPJ_Empresa</a:t>
            </a:r>
            <a:r>
              <a:rPr lang="pt-BR" sz="800" dirty="0"/>
              <a:t>) REFERENCES Empresa (</a:t>
            </a:r>
            <a:r>
              <a:rPr lang="pt-BR" sz="800" dirty="0" err="1"/>
              <a:t>CNPJ_Empresa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</a:t>
            </a:r>
            <a:r>
              <a:rPr lang="pt-BR" sz="800" dirty="0" err="1"/>
              <a:t>Endereco_Empresa</a:t>
            </a:r>
            <a:r>
              <a:rPr lang="pt-BR" sz="800" dirty="0"/>
              <a:t> ADD FOREIGN KEY(</a:t>
            </a:r>
            <a:r>
              <a:rPr lang="pt-BR" sz="800" dirty="0" err="1"/>
              <a:t>CNPJ_Empresa</a:t>
            </a:r>
            <a:r>
              <a:rPr lang="pt-BR" sz="800" dirty="0"/>
              <a:t>) REFERENCES Empresa (</a:t>
            </a:r>
            <a:r>
              <a:rPr lang="pt-BR" sz="800" dirty="0" err="1"/>
              <a:t>CNPJ_Empresa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Candidato ADD FOREIGN KEY(</a:t>
            </a:r>
            <a:r>
              <a:rPr lang="pt-BR" sz="800" dirty="0" err="1"/>
              <a:t>IdEndereco</a:t>
            </a:r>
            <a:r>
              <a:rPr lang="pt-BR" sz="800" dirty="0"/>
              <a:t>) REFERENCES </a:t>
            </a:r>
            <a:r>
              <a:rPr lang="pt-BR" sz="800" dirty="0" err="1"/>
              <a:t>Endereco_Candidato</a:t>
            </a:r>
            <a:r>
              <a:rPr lang="pt-BR" sz="800" dirty="0"/>
              <a:t> (</a:t>
            </a:r>
            <a:r>
              <a:rPr lang="pt-BR" sz="800" dirty="0" err="1"/>
              <a:t>IdEndereco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Contato ADD FOREIGN KEY(CPF) REFERENCES Candidato (CPF)</a:t>
            </a:r>
          </a:p>
          <a:p>
            <a:r>
              <a:rPr lang="pt-BR" sz="800" dirty="0"/>
              <a:t>ALTER TABLE Entrevista ADD FOREIGN KEY(CPF) REFERENCES Candidato (CPF)</a:t>
            </a:r>
          </a:p>
          <a:p>
            <a:r>
              <a:rPr lang="pt-BR" sz="800" dirty="0"/>
              <a:t>ALTER TABLE Entrevista ADD FOREIGN KEY(</a:t>
            </a:r>
            <a:r>
              <a:rPr lang="pt-BR" sz="800" dirty="0" err="1"/>
              <a:t>IdModalidade</a:t>
            </a:r>
            <a:r>
              <a:rPr lang="pt-BR" sz="800" dirty="0"/>
              <a:t>) REFERENCES </a:t>
            </a:r>
            <a:r>
              <a:rPr lang="pt-BR" sz="800" dirty="0" err="1"/>
              <a:t>ModalidadeEntrevista</a:t>
            </a:r>
            <a:r>
              <a:rPr lang="pt-BR" sz="800" dirty="0"/>
              <a:t> (</a:t>
            </a:r>
            <a:r>
              <a:rPr lang="pt-BR" sz="800" dirty="0" err="1"/>
              <a:t>IdModalidade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Entrevista ADD FOREIGN KEY(</a:t>
            </a:r>
            <a:r>
              <a:rPr lang="pt-BR" sz="800" dirty="0" err="1"/>
              <a:t>IdStatusEntrevista</a:t>
            </a:r>
            <a:r>
              <a:rPr lang="pt-BR" sz="800" dirty="0"/>
              <a:t>) REFERENCES </a:t>
            </a:r>
            <a:r>
              <a:rPr lang="pt-BR" sz="800" dirty="0" err="1"/>
              <a:t>StatusEntrevista</a:t>
            </a:r>
            <a:r>
              <a:rPr lang="pt-BR" sz="800" dirty="0"/>
              <a:t> (</a:t>
            </a:r>
            <a:r>
              <a:rPr lang="pt-BR" sz="800" dirty="0" err="1"/>
              <a:t>IdStatusEntrevista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Entrevista ADD FOREIGN KEY(Resultado) REFERENCES </a:t>
            </a:r>
            <a:r>
              <a:rPr lang="pt-BR" sz="800" dirty="0" err="1"/>
              <a:t>ResultadoEntrevista</a:t>
            </a:r>
            <a:r>
              <a:rPr lang="pt-BR" sz="800" dirty="0"/>
              <a:t> (Resultado)</a:t>
            </a:r>
          </a:p>
          <a:p>
            <a:r>
              <a:rPr lang="pt-BR" sz="800" dirty="0"/>
              <a:t>ALTER TABLE Entrevista ADD FOREIGN KEY(</a:t>
            </a:r>
            <a:r>
              <a:rPr lang="pt-BR" sz="800" dirty="0" err="1"/>
              <a:t>IdEtapa</a:t>
            </a:r>
            <a:r>
              <a:rPr lang="pt-BR" sz="800" dirty="0"/>
              <a:t>) REFERENCES </a:t>
            </a:r>
            <a:r>
              <a:rPr lang="pt-BR" sz="800" dirty="0" err="1"/>
              <a:t>EtapasDoProcesso</a:t>
            </a:r>
            <a:r>
              <a:rPr lang="pt-BR" sz="800" dirty="0"/>
              <a:t> (</a:t>
            </a:r>
            <a:r>
              <a:rPr lang="pt-BR" sz="800" dirty="0" err="1"/>
              <a:t>IdEtapa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Entrevista ADD FOREIGN KEY(</a:t>
            </a:r>
            <a:r>
              <a:rPr lang="pt-BR" sz="800" dirty="0" err="1"/>
              <a:t>IdLocalEntrevista</a:t>
            </a:r>
            <a:r>
              <a:rPr lang="pt-BR" sz="800" dirty="0"/>
              <a:t>) REFERENCES </a:t>
            </a:r>
            <a:r>
              <a:rPr lang="pt-BR" sz="800" dirty="0" err="1"/>
              <a:t>LocalEntrevista</a:t>
            </a:r>
            <a:r>
              <a:rPr lang="pt-BR" sz="800" dirty="0"/>
              <a:t> (</a:t>
            </a:r>
            <a:r>
              <a:rPr lang="pt-BR" sz="800" dirty="0" err="1"/>
              <a:t>IdLocalEntrevista</a:t>
            </a:r>
            <a:r>
              <a:rPr lang="pt-BR" sz="800" dirty="0"/>
              <a:t>)</a:t>
            </a:r>
          </a:p>
          <a:p>
            <a:r>
              <a:rPr lang="pt-BR" sz="800" dirty="0"/>
              <a:t>ALTER TABLE Entrevista ADD FOREIGN KEY(</a:t>
            </a:r>
            <a:r>
              <a:rPr lang="pt-BR" sz="800" dirty="0" err="1"/>
              <a:t>IdEntrevistador</a:t>
            </a:r>
            <a:r>
              <a:rPr lang="pt-BR" sz="800" dirty="0"/>
              <a:t>) REFERENCES </a:t>
            </a:r>
            <a:r>
              <a:rPr lang="pt-BR" sz="800" dirty="0" err="1"/>
              <a:t>Funcionario</a:t>
            </a:r>
            <a:r>
              <a:rPr lang="pt-BR" sz="800" dirty="0"/>
              <a:t> (</a:t>
            </a:r>
            <a:r>
              <a:rPr lang="pt-BR" sz="800" dirty="0" err="1"/>
              <a:t>IdEntrevistador</a:t>
            </a:r>
            <a:r>
              <a:rPr lang="pt-BR" sz="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297287100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ctrTitle"/>
          </p:nvPr>
        </p:nvSpPr>
        <p:spPr>
          <a:xfrm>
            <a:off x="527450" y="36438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2e785b33-20e6-4579-a510-fbb48ba311ec}" enabled="1" method="Privileged" siteId="{3737367d-87d3-46ca-b00f-21b50c428b5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1096</Words>
  <Application>Microsoft Office PowerPoint</Application>
  <PresentationFormat>Apresentação na tela (16:9)</PresentationFormat>
  <Paragraphs>265</Paragraphs>
  <Slides>23</Slides>
  <Notes>23</Notes>
  <HiddenSlides>7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Roboto</vt:lpstr>
      <vt:lpstr>Aptos</vt:lpstr>
      <vt:lpstr>Geometric</vt:lpstr>
      <vt:lpstr>Ateliê de Modelagem</vt:lpstr>
      <vt:lpstr>Modelo Conceitual</vt:lpstr>
      <vt:lpstr>Modelo Lógico</vt:lpstr>
      <vt:lpstr>Etapas do processo - Visão geral</vt:lpstr>
      <vt:lpstr>Etapas do processo - Visão geral</vt:lpstr>
      <vt:lpstr>Etapas do processo - 3FN</vt:lpstr>
      <vt:lpstr>Vaga - 1FN e 2FN</vt:lpstr>
      <vt:lpstr>Vaga - 3FN</vt:lpstr>
      <vt:lpstr>Candidato - Visão geral</vt:lpstr>
      <vt:lpstr>Candidato - 3FN</vt:lpstr>
      <vt:lpstr>Empresa Contratante - Visão geral</vt:lpstr>
      <vt:lpstr>Empresa Contratante - 3FN</vt:lpstr>
      <vt:lpstr>Empresa Contratante - 3FN</vt:lpstr>
      <vt:lpstr>Entrevista - Visão geral</vt:lpstr>
      <vt:lpstr>Entrevista - 3FN</vt:lpstr>
      <vt:lpstr>Modelo Lógico Normalizado</vt:lpstr>
      <vt:lpstr>Código SQL  - Etapas do Processo</vt:lpstr>
      <vt:lpstr>Código SQL  - Vaga</vt:lpstr>
      <vt:lpstr>Código SQL  - Empresa</vt:lpstr>
      <vt:lpstr>Código SQL  - Candidato</vt:lpstr>
      <vt:lpstr>Código SQL  - Entrevista</vt:lpstr>
      <vt:lpstr>Código SQL  - Entrevista</vt:lpstr>
      <vt:lpstr>Obrigado!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Ateliê de Modelagem</dc:title>
  <cp:lastModifiedBy>Adriani</cp:lastModifiedBy>
  <cp:revision>4</cp:revision>
  <dcterms:modified xsi:type="dcterms:W3CDTF">2026-05-19T20:53:03Z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Geometric:3</vt:lpwstr>
  </property>
  <property fmtid="{D5CDD505-2E9C-101B-9397-08002B2CF9AE}" pid="3" name="ClassificationContentMarkingFooterText">
    <vt:lpwstr>Classificação da Informação: PÚBLICA</vt:lpwstr>
  </property>
</Properties>
</file>